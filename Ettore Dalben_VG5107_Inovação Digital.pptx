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63" r:id="rId6"/>
    <p:sldId id="259" r:id="rId7"/>
    <p:sldId id="269" r:id="rId8"/>
    <p:sldId id="260" r:id="rId9"/>
    <p:sldId id="264" r:id="rId10"/>
    <p:sldId id="261" r:id="rId11"/>
    <p:sldId id="270" r:id="rId12"/>
    <p:sldId id="262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630D"/>
    <a:srgbClr val="313131"/>
    <a:srgbClr val="A0EA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C0BE5996-BCB5-470B-F841-273F3221F1DE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240825" y="-56581"/>
            <a:ext cx="1440000" cy="583024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B2E45-D073-2FF2-97D6-8E2F2CFEE8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BUSINESS CASE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C1F070-527A-E30B-6FD8-2E119A5D4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Ettore Dalben</a:t>
            </a:r>
          </a:p>
        </p:txBody>
      </p:sp>
    </p:spTree>
    <p:extLst>
      <p:ext uri="{BB962C8B-B14F-4D97-AF65-F5344CB8AC3E}">
        <p14:creationId xmlns:p14="http://schemas.microsoft.com/office/powerpoint/2010/main" val="249050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516DEF3-4A18-0784-8E9C-C41DB9585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pt-BR" sz="2500" dirty="0"/>
              <a:t>PROBLEMA 1 – Processos de Automação para fontes de dados não Editáveis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E90462-BE4C-FD8A-8413-8821CA8AD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r>
              <a:rPr lang="pt-BR" sz="2000" dirty="0"/>
              <a:t>Tabela em PDF;</a:t>
            </a:r>
          </a:p>
          <a:p>
            <a:r>
              <a:rPr lang="pt-BR" sz="2000" dirty="0"/>
              <a:t>Todos os dados em 1 arquivo;</a:t>
            </a:r>
          </a:p>
          <a:p>
            <a:r>
              <a:rPr lang="pt-BR" sz="2000" dirty="0"/>
              <a:t>1 ou mais páginas;</a:t>
            </a:r>
          </a:p>
          <a:p>
            <a:r>
              <a:rPr lang="pt-BR" sz="2000" dirty="0"/>
              <a:t>Fora de ordem;</a:t>
            </a:r>
          </a:p>
          <a:p>
            <a:r>
              <a:rPr lang="pt-BR" sz="2000" dirty="0"/>
              <a:t>Resultado em Excel;</a:t>
            </a:r>
          </a:p>
          <a:p>
            <a:r>
              <a:rPr lang="pt-BR" sz="2000" dirty="0"/>
              <a:t>Nenhuma transformação, apenas alterações visuais.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7936C9E-F9BE-7213-C94F-1E60325A1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45540"/>
            <a:ext cx="5456279" cy="3341971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59331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2C5B7-0E69-E00A-9D5A-657BDC5E0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3B867F-9987-A719-BA11-779664D60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Usar a biblioteca Camelot para extrair os dados do PDF;</a:t>
            </a:r>
          </a:p>
          <a:p>
            <a:r>
              <a:rPr lang="pt-BR" dirty="0"/>
              <a:t>Alterar os dados com a biblioteca Pandas, para separar os valores úteis a serem mantidos dos demais valores;</a:t>
            </a:r>
          </a:p>
          <a:p>
            <a:r>
              <a:rPr lang="pt-BR" dirty="0"/>
              <a:t>Usar a biblioteca </a:t>
            </a:r>
            <a:r>
              <a:rPr lang="pt-BR" dirty="0" err="1"/>
              <a:t>Xlwings</a:t>
            </a:r>
            <a:r>
              <a:rPr lang="pt-BR" dirty="0"/>
              <a:t> para manipular os recursos de Excel, a fim de enfeitar a saída;</a:t>
            </a:r>
          </a:p>
          <a:p>
            <a:r>
              <a:rPr lang="pt-BR" dirty="0"/>
              <a:t>Empacotar tudo em um aplicativo com interface gráfica para o usuário final.</a:t>
            </a:r>
          </a:p>
        </p:txBody>
      </p:sp>
    </p:spTree>
    <p:extLst>
      <p:ext uri="{BB962C8B-B14F-4D97-AF65-F5344CB8AC3E}">
        <p14:creationId xmlns:p14="http://schemas.microsoft.com/office/powerpoint/2010/main" val="1505277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CC829-0384-6EE1-E1C4-1E62A741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Regras de Negócio</a:t>
            </a:r>
          </a:p>
        </p:txBody>
      </p:sp>
      <p:pic>
        <p:nvPicPr>
          <p:cNvPr id="17" name="Espaço Reservado para Conteúdo 16">
            <a:extLst>
              <a:ext uri="{FF2B5EF4-FFF2-40B4-BE49-F238E27FC236}">
                <a16:creationId xmlns:a16="http://schemas.microsoft.com/office/drawing/2014/main" id="{7414EBF2-8DFA-3EF3-F89F-79836B99E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5734" y="2249488"/>
            <a:ext cx="9557358" cy="3541712"/>
          </a:xfrm>
        </p:spPr>
      </p:pic>
    </p:spTree>
    <p:extLst>
      <p:ext uri="{BB962C8B-B14F-4D97-AF65-F5344CB8AC3E}">
        <p14:creationId xmlns:p14="http://schemas.microsoft.com/office/powerpoint/2010/main" val="3251547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F5E9D-BD84-29BA-0BA0-6FB89266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89714"/>
            <a:ext cx="9905998" cy="1478570"/>
          </a:xfrm>
        </p:spPr>
        <p:txBody>
          <a:bodyPr/>
          <a:lstStyle/>
          <a:p>
            <a:r>
              <a:rPr lang="pt-BR" dirty="0"/>
              <a:t>Fluxograma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BA99F9-5C74-FC2A-1273-AB8BFE425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324" y="0"/>
            <a:ext cx="4257675" cy="672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969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99122-F7F5-79F8-2DCC-16457674E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5894387" cy="1478570"/>
          </a:xfrm>
        </p:spPr>
        <p:txBody>
          <a:bodyPr anchor="b">
            <a:normAutofit/>
          </a:bodyPr>
          <a:lstStyle/>
          <a:p>
            <a:r>
              <a:rPr lang="pt-BR" dirty="0"/>
              <a:t>PROBLEMA 2 – Processos de Tratamento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AB9B05-1EBE-D8A3-14F9-BA53B3E4B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5894388" cy="3541714"/>
          </a:xfrm>
        </p:spPr>
        <p:txBody>
          <a:bodyPr>
            <a:normAutofit/>
          </a:bodyPr>
          <a:lstStyle/>
          <a:p>
            <a:r>
              <a:rPr lang="pt-BR" dirty="0"/>
              <a:t>Tabelas em Excel;</a:t>
            </a:r>
          </a:p>
          <a:p>
            <a:r>
              <a:rPr lang="pt-BR" dirty="0"/>
              <a:t>Dados distribuídos em 1 arquivo e 1 constante (500);</a:t>
            </a:r>
          </a:p>
          <a:p>
            <a:r>
              <a:rPr lang="pt-BR" dirty="0"/>
              <a:t>2 planilhas;</a:t>
            </a:r>
          </a:p>
          <a:p>
            <a:r>
              <a:rPr lang="pt-BR" dirty="0"/>
              <a:t>Resultado em Excel;</a:t>
            </a:r>
          </a:p>
          <a:p>
            <a:r>
              <a:rPr lang="pt-BR" dirty="0"/>
              <a:t>Transformação de dados.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DABD7BA-27CD-B698-B3F5-BE40FD4984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15" r="10" b="6988"/>
          <a:stretch>
            <a:fillRect/>
          </a:stretch>
        </p:blipFill>
        <p:spPr>
          <a:xfrm>
            <a:off x="7619998" y="780235"/>
            <a:ext cx="3425199" cy="2337870"/>
          </a:xfrm>
          <a:custGeom>
            <a:avLst/>
            <a:gdLst/>
            <a:ahLst/>
            <a:cxnLst/>
            <a:rect l="l" t="t" r="r" b="b"/>
            <a:pathLst>
              <a:path w="3425199" h="2337870">
                <a:moveTo>
                  <a:pt x="166465" y="0"/>
                </a:moveTo>
                <a:lnTo>
                  <a:pt x="3425199" y="0"/>
                </a:lnTo>
                <a:lnTo>
                  <a:pt x="3425199" y="2337870"/>
                </a:lnTo>
                <a:lnTo>
                  <a:pt x="0" y="2337870"/>
                </a:lnTo>
                <a:lnTo>
                  <a:pt x="0" y="166465"/>
                </a:lnTo>
                <a:cubicBezTo>
                  <a:pt x="0" y="74529"/>
                  <a:pt x="74529" y="0"/>
                  <a:pt x="166465" y="0"/>
                </a:cubicBezTo>
                <a:close/>
              </a:path>
            </a:pathLst>
          </a:cu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FE77794-D20A-C41D-A901-379F2CCAA3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76" r="16086"/>
          <a:stretch>
            <a:fillRect/>
          </a:stretch>
        </p:blipFill>
        <p:spPr>
          <a:xfrm>
            <a:off x="7619998" y="3282697"/>
            <a:ext cx="3425199" cy="2337870"/>
          </a:xfrm>
          <a:custGeom>
            <a:avLst/>
            <a:gdLst/>
            <a:ahLst/>
            <a:cxnLst/>
            <a:rect l="l" t="t" r="r" b="b"/>
            <a:pathLst>
              <a:path w="3425199" h="2337870">
                <a:moveTo>
                  <a:pt x="0" y="0"/>
                </a:moveTo>
                <a:lnTo>
                  <a:pt x="3425199" y="0"/>
                </a:lnTo>
                <a:lnTo>
                  <a:pt x="3425199" y="2171405"/>
                </a:lnTo>
                <a:cubicBezTo>
                  <a:pt x="3425199" y="2263341"/>
                  <a:pt x="3350670" y="2337870"/>
                  <a:pt x="3258734" y="2337870"/>
                </a:cubicBezTo>
                <a:lnTo>
                  <a:pt x="0" y="2337870"/>
                </a:lnTo>
                <a:close/>
              </a:path>
            </a:pathLst>
          </a:cu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1328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F92EB-71FB-A2FF-7165-51F4ADCB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CC965-A107-8088-C89D-00931BEFA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4BEF7C-3BEC-4135-4CB8-2BAE917DA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Usar a biblioteca </a:t>
            </a:r>
            <a:r>
              <a:rPr lang="pt-BR" dirty="0" err="1"/>
              <a:t>Xlwings</a:t>
            </a:r>
            <a:r>
              <a:rPr lang="pt-BR" dirty="0"/>
              <a:t> para extrair os dados das planilhas Excel;</a:t>
            </a:r>
          </a:p>
          <a:p>
            <a:r>
              <a:rPr lang="pt-BR" dirty="0"/>
              <a:t>Tratar os dados com a biblioteca Pandas, para fazer cálculos, comparações e inserção de valores;</a:t>
            </a:r>
          </a:p>
          <a:p>
            <a:r>
              <a:rPr lang="pt-BR" dirty="0"/>
              <a:t>Usar a biblioteca </a:t>
            </a:r>
            <a:r>
              <a:rPr lang="pt-BR" dirty="0" err="1"/>
              <a:t>Xlwings</a:t>
            </a:r>
            <a:r>
              <a:rPr lang="pt-BR" dirty="0"/>
              <a:t> para transformar o Excel, a fim de editar o visual do resultado;</a:t>
            </a:r>
          </a:p>
          <a:p>
            <a:r>
              <a:rPr lang="pt-BR" dirty="0"/>
              <a:t>Empacotar tudo em um aplicativo com interface gráfica para o usuário final.</a:t>
            </a:r>
          </a:p>
        </p:txBody>
      </p:sp>
    </p:spTree>
    <p:extLst>
      <p:ext uri="{BB962C8B-B14F-4D97-AF65-F5344CB8AC3E}">
        <p14:creationId xmlns:p14="http://schemas.microsoft.com/office/powerpoint/2010/main" val="1863632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1F71C-537C-61C7-BE66-47A087B2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Regras de Negócio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126B483-5AD0-84F8-3FE0-43A4CCD1A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394" y="2137255"/>
            <a:ext cx="11931212" cy="2700432"/>
          </a:xfrm>
        </p:spPr>
      </p:pic>
    </p:spTree>
    <p:extLst>
      <p:ext uri="{BB962C8B-B14F-4D97-AF65-F5344CB8AC3E}">
        <p14:creationId xmlns:p14="http://schemas.microsoft.com/office/powerpoint/2010/main" val="2923176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C948E-F4E6-4929-D7D6-56115558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7" y="2689715"/>
            <a:ext cx="9905998" cy="1478570"/>
          </a:xfrm>
        </p:spPr>
        <p:txBody>
          <a:bodyPr/>
          <a:lstStyle/>
          <a:p>
            <a:r>
              <a:rPr lang="pt-BR" dirty="0"/>
              <a:t>Fluxograma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F77EFB26-3243-45CF-AAE4-BFA7D82D9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186" y="5860"/>
            <a:ext cx="3645589" cy="685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32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D6D06-F51A-306C-D56A-159F63C3F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5894387" cy="1478570"/>
          </a:xfrm>
        </p:spPr>
        <p:txBody>
          <a:bodyPr anchor="b">
            <a:normAutofit/>
          </a:bodyPr>
          <a:lstStyle/>
          <a:p>
            <a:r>
              <a:rPr lang="pt-BR" dirty="0"/>
              <a:t>PROBLEMA 3 – Manipulação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AD2DED-88F3-A689-E3DA-C6B896078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5894388" cy="3541714"/>
          </a:xfrm>
        </p:spPr>
        <p:txBody>
          <a:bodyPr>
            <a:normAutofit/>
          </a:bodyPr>
          <a:lstStyle/>
          <a:p>
            <a:r>
              <a:rPr lang="pt-BR" dirty="0"/>
              <a:t>Tabela e Ficha em Excel;</a:t>
            </a:r>
          </a:p>
          <a:p>
            <a:r>
              <a:rPr lang="pt-BR" dirty="0"/>
              <a:t>Dados distribuídos em 2 planilhas;</a:t>
            </a:r>
          </a:p>
          <a:p>
            <a:r>
              <a:rPr lang="pt-BR" dirty="0"/>
              <a:t>Planilhas não formatadas;</a:t>
            </a:r>
          </a:p>
          <a:p>
            <a:r>
              <a:rPr lang="pt-BR" dirty="0"/>
              <a:t>Resultado em Excel;</a:t>
            </a:r>
          </a:p>
          <a:p>
            <a:r>
              <a:rPr lang="pt-BR" dirty="0"/>
              <a:t>Transformação de dados.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D8DBA37-522A-1288-2033-7313D4DCC7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10" r="36263" b="1"/>
          <a:stretch>
            <a:fillRect/>
          </a:stretch>
        </p:blipFill>
        <p:spPr>
          <a:xfrm>
            <a:off x="7619998" y="780235"/>
            <a:ext cx="3425199" cy="2337870"/>
          </a:xfrm>
          <a:custGeom>
            <a:avLst/>
            <a:gdLst/>
            <a:ahLst/>
            <a:cxnLst/>
            <a:rect l="l" t="t" r="r" b="b"/>
            <a:pathLst>
              <a:path w="3425199" h="2337870">
                <a:moveTo>
                  <a:pt x="166465" y="0"/>
                </a:moveTo>
                <a:lnTo>
                  <a:pt x="3425199" y="0"/>
                </a:lnTo>
                <a:lnTo>
                  <a:pt x="3425199" y="2337870"/>
                </a:lnTo>
                <a:lnTo>
                  <a:pt x="0" y="2337870"/>
                </a:lnTo>
                <a:lnTo>
                  <a:pt x="0" y="166465"/>
                </a:lnTo>
                <a:cubicBezTo>
                  <a:pt x="0" y="74529"/>
                  <a:pt x="74529" y="0"/>
                  <a:pt x="166465" y="0"/>
                </a:cubicBezTo>
                <a:close/>
              </a:path>
            </a:pathLst>
          </a:cu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9F6AC87-B8FB-4BBB-9AE0-0B845D20FB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176" r="41268" b="3"/>
          <a:stretch>
            <a:fillRect/>
          </a:stretch>
        </p:blipFill>
        <p:spPr>
          <a:xfrm>
            <a:off x="7619998" y="3282697"/>
            <a:ext cx="3425199" cy="2337870"/>
          </a:xfrm>
          <a:custGeom>
            <a:avLst/>
            <a:gdLst/>
            <a:ahLst/>
            <a:cxnLst/>
            <a:rect l="l" t="t" r="r" b="b"/>
            <a:pathLst>
              <a:path w="3425199" h="2337870">
                <a:moveTo>
                  <a:pt x="0" y="0"/>
                </a:moveTo>
                <a:lnTo>
                  <a:pt x="3425199" y="0"/>
                </a:lnTo>
                <a:lnTo>
                  <a:pt x="3425199" y="2171405"/>
                </a:lnTo>
                <a:cubicBezTo>
                  <a:pt x="3425199" y="2263341"/>
                  <a:pt x="3350670" y="2337870"/>
                  <a:pt x="3258734" y="2337870"/>
                </a:cubicBezTo>
                <a:lnTo>
                  <a:pt x="0" y="2337870"/>
                </a:lnTo>
                <a:close/>
              </a:path>
            </a:pathLst>
          </a:cu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9558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23710-9AC1-9CAF-A318-5CDE0E4A3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F933A-083D-36AC-9183-4B77D1C7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8E36A-22C5-5F46-45EE-BA704F203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Usar a biblioteca Pandas para extrair os dados das planilhas Excel;</a:t>
            </a:r>
          </a:p>
          <a:p>
            <a:r>
              <a:rPr lang="pt-BR" dirty="0"/>
              <a:t>Manipular os dados com a biblioteca Pandas, distribuição de colunas, correção de nomes e inserção de valores;</a:t>
            </a:r>
          </a:p>
          <a:p>
            <a:r>
              <a:rPr lang="pt-BR" dirty="0"/>
              <a:t>Usar a biblioteca </a:t>
            </a:r>
            <a:r>
              <a:rPr lang="pt-BR" dirty="0" err="1"/>
              <a:t>Xlwings</a:t>
            </a:r>
            <a:r>
              <a:rPr lang="pt-BR" dirty="0"/>
              <a:t> para estilizar a saída Excel;</a:t>
            </a:r>
          </a:p>
          <a:p>
            <a:r>
              <a:rPr lang="pt-BR" dirty="0"/>
              <a:t>Empacotar tudo em um aplicativo com interface gráfica para o usuário final.</a:t>
            </a:r>
          </a:p>
        </p:txBody>
      </p:sp>
    </p:spTree>
    <p:extLst>
      <p:ext uri="{BB962C8B-B14F-4D97-AF65-F5344CB8AC3E}">
        <p14:creationId xmlns:p14="http://schemas.microsoft.com/office/powerpoint/2010/main" val="1982586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5DF33-B005-37EB-0D21-B8080763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Regras de Negócio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F849830-3D9D-5499-0855-3BA2EC0B6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775" y="2165495"/>
            <a:ext cx="11580449" cy="3842205"/>
          </a:xfrm>
        </p:spPr>
      </p:pic>
    </p:spTree>
    <p:extLst>
      <p:ext uri="{BB962C8B-B14F-4D97-AF65-F5344CB8AC3E}">
        <p14:creationId xmlns:p14="http://schemas.microsoft.com/office/powerpoint/2010/main" val="3048304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31ED6-2A22-66EC-EF1F-8B8468C6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963" y="2689715"/>
            <a:ext cx="9905998" cy="1478570"/>
          </a:xfrm>
        </p:spPr>
        <p:txBody>
          <a:bodyPr/>
          <a:lstStyle/>
          <a:p>
            <a:r>
              <a:rPr lang="pt-BR" dirty="0"/>
              <a:t>Fluxograma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603CC7DC-5AEF-E1B1-8584-EAFBACCB9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150" y="0"/>
            <a:ext cx="3973811" cy="695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554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AD300BC-8430-A22C-86EE-3C7DF4F48DB1}"/>
              </a:ext>
            </a:extLst>
          </p:cNvPr>
          <p:cNvSpPr/>
          <p:nvPr/>
        </p:nvSpPr>
        <p:spPr>
          <a:xfrm>
            <a:off x="9784407" y="1791450"/>
            <a:ext cx="2340000" cy="4707802"/>
          </a:xfrm>
          <a:prstGeom prst="roundRect">
            <a:avLst/>
          </a:prstGeom>
          <a:solidFill>
            <a:srgbClr val="E7630D">
              <a:alpha val="5019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Escolha de Local para Salvar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A30C92B-0568-B44A-3602-28418C70A204}"/>
              </a:ext>
            </a:extLst>
          </p:cNvPr>
          <p:cNvSpPr/>
          <p:nvPr/>
        </p:nvSpPr>
        <p:spPr>
          <a:xfrm>
            <a:off x="7352507" y="1819574"/>
            <a:ext cx="2340000" cy="4707802"/>
          </a:xfrm>
          <a:prstGeom prst="roundRect">
            <a:avLst/>
          </a:prstGeom>
          <a:solidFill>
            <a:srgbClr val="E7630D">
              <a:alpha val="5019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Retorno do Processo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6ECEB52-F010-A47A-7A97-C71CA4132324}"/>
              </a:ext>
            </a:extLst>
          </p:cNvPr>
          <p:cNvSpPr/>
          <p:nvPr/>
        </p:nvSpPr>
        <p:spPr>
          <a:xfrm>
            <a:off x="4923055" y="1819574"/>
            <a:ext cx="2340000" cy="4707802"/>
          </a:xfrm>
          <a:prstGeom prst="roundRect">
            <a:avLst/>
          </a:prstGeom>
          <a:solidFill>
            <a:srgbClr val="E7630D">
              <a:alpha val="5019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Processamento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E61B764-C0E4-BF4F-ED18-4A95555860D6}"/>
              </a:ext>
            </a:extLst>
          </p:cNvPr>
          <p:cNvSpPr/>
          <p:nvPr/>
        </p:nvSpPr>
        <p:spPr>
          <a:xfrm>
            <a:off x="2513838" y="1798044"/>
            <a:ext cx="2340000" cy="4707802"/>
          </a:xfrm>
          <a:prstGeom prst="roundRect">
            <a:avLst/>
          </a:prstGeom>
          <a:solidFill>
            <a:srgbClr val="E7630D">
              <a:alpha val="5019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Seleção de Arquivos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06C1773-9474-F1EA-A3A3-FD29D0CFF51E}"/>
              </a:ext>
            </a:extLst>
          </p:cNvPr>
          <p:cNvSpPr/>
          <p:nvPr/>
        </p:nvSpPr>
        <p:spPr>
          <a:xfrm>
            <a:off x="64417" y="1791450"/>
            <a:ext cx="2340000" cy="4707802"/>
          </a:xfrm>
          <a:prstGeom prst="roundRect">
            <a:avLst/>
          </a:prstGeom>
          <a:solidFill>
            <a:srgbClr val="E7630D">
              <a:alpha val="5019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Tela Inicial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0ADEFC-57A8-3B1A-A32E-A19FEB5E0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Design geral/FIGMA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944239D3-FEF8-8E47-5B1E-749D7472F2A5}"/>
              </a:ext>
            </a:extLst>
          </p:cNvPr>
          <p:cNvGrpSpPr/>
          <p:nvPr/>
        </p:nvGrpSpPr>
        <p:grpSpPr>
          <a:xfrm>
            <a:off x="331893" y="2808033"/>
            <a:ext cx="1795713" cy="2081467"/>
            <a:chOff x="1312863" y="2438400"/>
            <a:chExt cx="1795713" cy="2081467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54EC167-C483-805A-C469-40260F73F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2863" y="2695575"/>
              <a:ext cx="1795713" cy="1824292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3D006335-A084-1653-340C-ED4834A21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75" t="14"/>
            <a:stretch>
              <a:fillRect/>
            </a:stretch>
          </p:blipFill>
          <p:spPr>
            <a:xfrm>
              <a:off x="1312863" y="2438400"/>
              <a:ext cx="1795713" cy="257175"/>
            </a:xfrm>
            <a:prstGeom prst="rect">
              <a:avLst/>
            </a:prstGeom>
          </p:spPr>
        </p:pic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43FCFA0-AF4F-26E4-DF71-4B4951E5A157}"/>
              </a:ext>
            </a:extLst>
          </p:cNvPr>
          <p:cNvGrpSpPr/>
          <p:nvPr/>
        </p:nvGrpSpPr>
        <p:grpSpPr>
          <a:xfrm>
            <a:off x="2770075" y="4288000"/>
            <a:ext cx="1795713" cy="2081467"/>
            <a:chOff x="2495641" y="4158015"/>
            <a:chExt cx="1795713" cy="2081467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64628BB1-D330-965A-1AD7-888B56C4F158}"/>
                </a:ext>
              </a:extLst>
            </p:cNvPr>
            <p:cNvGrpSpPr/>
            <p:nvPr/>
          </p:nvGrpSpPr>
          <p:grpSpPr>
            <a:xfrm>
              <a:off x="2495641" y="4158015"/>
              <a:ext cx="1795713" cy="2081467"/>
              <a:chOff x="1312863" y="2438400"/>
              <a:chExt cx="1795713" cy="2081467"/>
            </a:xfrm>
          </p:grpSpPr>
          <p:pic>
            <p:nvPicPr>
              <p:cNvPr id="12" name="Imagem 11">
                <a:extLst>
                  <a:ext uri="{FF2B5EF4-FFF2-40B4-BE49-F238E27FC236}">
                    <a16:creationId xmlns:a16="http://schemas.microsoft.com/office/drawing/2014/main" id="{C3815CAF-F39F-0D20-01B1-2ED3E7073B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12863" y="2695575"/>
                <a:ext cx="1795713" cy="1824292"/>
              </a:xfrm>
              <a:prstGeom prst="rect">
                <a:avLst/>
              </a:prstGeom>
            </p:spPr>
          </p:pic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D0B7C3D9-EF9C-C25D-E1C9-41EE5616E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4775" t="14"/>
              <a:stretch>
                <a:fillRect/>
              </a:stretch>
            </p:blipFill>
            <p:spPr>
              <a:xfrm>
                <a:off x="1312863" y="2438400"/>
                <a:ext cx="1795713" cy="257175"/>
              </a:xfrm>
              <a:prstGeom prst="rect">
                <a:avLst/>
              </a:prstGeom>
            </p:spPr>
          </p:pic>
        </p:grpSp>
        <p:pic>
          <p:nvPicPr>
            <p:cNvPr id="4098" name="Picture 2" descr="Ícones, Logotipos, Símbolos de Excel – Baixe gratuitamente em PNG, SVG">
              <a:extLst>
                <a:ext uri="{FF2B5EF4-FFF2-40B4-BE49-F238E27FC236}">
                  <a16:creationId xmlns:a16="http://schemas.microsoft.com/office/drawing/2014/main" id="{A4F43B58-C754-9ED3-AAA7-C5327039F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22667" y1="79333" x2="12917" y2="66083"/>
                          <a14:foregroundMark x1="12917" y1="66083" x2="16667" y2="56833"/>
                          <a14:foregroundMark x1="16667" y1="56833" x2="22333" y2="52667"/>
                          <a14:foregroundMark x1="22333" y1="52667" x2="35500" y2="55417"/>
                          <a14:foregroundMark x1="35500" y1="55417" x2="41417" y2="68000"/>
                          <a14:foregroundMark x1="41417" y1="68000" x2="37583" y2="77750"/>
                          <a14:foregroundMark x1="29750" y1="77333" x2="21917" y2="71083"/>
                          <a14:foregroundMark x1="21917" y1="71083" x2="30833" y2="56583"/>
                          <a14:foregroundMark x1="30833" y1="56583" x2="36500" y2="70250"/>
                          <a14:foregroundMark x1="36500" y1="70250" x2="36083" y2="70750"/>
                          <a14:foregroundMark x1="23250" y1="67750" x2="31167" y2="74417"/>
                          <a14:foregroundMark x1="31167" y1="74417" x2="30583" y2="73500"/>
                          <a14:foregroundMark x1="32250" y1="73500" x2="20917" y2="58500"/>
                          <a14:foregroundMark x1="32000" y1="75250" x2="17250" y2="52667"/>
                          <a14:foregroundMark x1="19500" y1="62833" x2="22333" y2="62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7185" y="5168373"/>
              <a:ext cx="891012" cy="8910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0" name="Picture 4">
              <a:extLst>
                <a:ext uri="{FF2B5EF4-FFF2-40B4-BE49-F238E27FC236}">
                  <a16:creationId xmlns:a16="http://schemas.microsoft.com/office/drawing/2014/main" id="{E2D2FFCC-655D-1A1F-0550-6155414BF4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3639" y="4949875"/>
              <a:ext cx="588528" cy="723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EBDEC316-C02A-8422-F6AF-D36FE998EA2D}"/>
              </a:ext>
            </a:extLst>
          </p:cNvPr>
          <p:cNvGrpSpPr/>
          <p:nvPr/>
        </p:nvGrpSpPr>
        <p:grpSpPr>
          <a:xfrm>
            <a:off x="5205945" y="2809337"/>
            <a:ext cx="1774220" cy="2023579"/>
            <a:chOff x="5933094" y="4286925"/>
            <a:chExt cx="1774220" cy="2023579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96B7AAB1-A24B-1B72-DE5D-E7301FC89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33094" y="4544100"/>
              <a:ext cx="1774220" cy="1766404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FE0A9F8E-2779-A4EB-DC67-C970245E4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75" t="14"/>
            <a:stretch>
              <a:fillRect/>
            </a:stretch>
          </p:blipFill>
          <p:spPr>
            <a:xfrm>
              <a:off x="5933094" y="4286925"/>
              <a:ext cx="1774220" cy="257175"/>
            </a:xfrm>
            <a:prstGeom prst="rect">
              <a:avLst/>
            </a:prstGeom>
          </p:spPr>
        </p:pic>
      </p:grpSp>
      <p:pic>
        <p:nvPicPr>
          <p:cNvPr id="22" name="Imagem 21">
            <a:extLst>
              <a:ext uri="{FF2B5EF4-FFF2-40B4-BE49-F238E27FC236}">
                <a16:creationId xmlns:a16="http://schemas.microsoft.com/office/drawing/2014/main" id="{6A23C508-8A69-B4F8-8D14-11602236A9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4523" y="2243062"/>
            <a:ext cx="1795712" cy="2008318"/>
          </a:xfrm>
          <a:prstGeom prst="rect">
            <a:avLst/>
          </a:prstGeom>
        </p:spPr>
      </p:pic>
      <p:grpSp>
        <p:nvGrpSpPr>
          <p:cNvPr id="31" name="Agrupar 30">
            <a:extLst>
              <a:ext uri="{FF2B5EF4-FFF2-40B4-BE49-F238E27FC236}">
                <a16:creationId xmlns:a16="http://schemas.microsoft.com/office/drawing/2014/main" id="{3D509A23-4CC3-DACA-9C71-C1A040902BC2}"/>
              </a:ext>
            </a:extLst>
          </p:cNvPr>
          <p:cNvGrpSpPr/>
          <p:nvPr/>
        </p:nvGrpSpPr>
        <p:grpSpPr>
          <a:xfrm>
            <a:off x="7644587" y="2271415"/>
            <a:ext cx="1749428" cy="1951612"/>
            <a:chOff x="7117506" y="1787469"/>
            <a:chExt cx="1749428" cy="1951612"/>
          </a:xfrm>
        </p:grpSpPr>
        <p:pic>
          <p:nvPicPr>
            <p:cNvPr id="25" name="Imagem 24">
              <a:extLst>
                <a:ext uri="{FF2B5EF4-FFF2-40B4-BE49-F238E27FC236}">
                  <a16:creationId xmlns:a16="http://schemas.microsoft.com/office/drawing/2014/main" id="{F084A761-4324-CD4E-B689-A57BB40CD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75" t="14"/>
            <a:stretch>
              <a:fillRect/>
            </a:stretch>
          </p:blipFill>
          <p:spPr>
            <a:xfrm>
              <a:off x="7117507" y="1787469"/>
              <a:ext cx="1749427" cy="257175"/>
            </a:xfrm>
            <a:prstGeom prst="rect">
              <a:avLst/>
            </a:prstGeom>
          </p:spPr>
        </p:pic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80926418-EA00-8BA2-FAE8-6CE9DA0AB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17506" y="2044644"/>
              <a:ext cx="1749427" cy="1694437"/>
            </a:xfrm>
            <a:prstGeom prst="rect">
              <a:avLst/>
            </a:prstGeom>
          </p:spPr>
        </p:pic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A599F335-9267-C36F-D2BF-9B3A6C654D81}"/>
              </a:ext>
            </a:extLst>
          </p:cNvPr>
          <p:cNvGrpSpPr/>
          <p:nvPr/>
        </p:nvGrpSpPr>
        <p:grpSpPr>
          <a:xfrm>
            <a:off x="7644587" y="4316124"/>
            <a:ext cx="1749428" cy="2053343"/>
            <a:chOff x="7117506" y="4186139"/>
            <a:chExt cx="1749428" cy="2053343"/>
          </a:xfrm>
        </p:grpSpPr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7C663250-1664-936E-347B-7E4EB0D08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1695"/>
            <a:stretch>
              <a:fillRect/>
            </a:stretch>
          </p:blipFill>
          <p:spPr>
            <a:xfrm>
              <a:off x="7117507" y="4443314"/>
              <a:ext cx="1749427" cy="1796168"/>
            </a:xfrm>
            <a:prstGeom prst="rect">
              <a:avLst/>
            </a:prstGeom>
          </p:spPr>
        </p:pic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19C4EC0B-1841-1F29-4061-AAC7AF4A1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75" t="14"/>
            <a:stretch>
              <a:fillRect/>
            </a:stretch>
          </p:blipFill>
          <p:spPr>
            <a:xfrm>
              <a:off x="7117506" y="4186139"/>
              <a:ext cx="1749427" cy="257175"/>
            </a:xfrm>
            <a:prstGeom prst="rect">
              <a:avLst/>
            </a:prstGeom>
          </p:spPr>
        </p:pic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A8E79129-AC85-097E-B1C4-CED0548C6D96}"/>
              </a:ext>
            </a:extLst>
          </p:cNvPr>
          <p:cNvGrpSpPr/>
          <p:nvPr/>
        </p:nvGrpSpPr>
        <p:grpSpPr>
          <a:xfrm>
            <a:off x="9886577" y="2596824"/>
            <a:ext cx="2135659" cy="2748308"/>
            <a:chOff x="9597198" y="2679446"/>
            <a:chExt cx="2135659" cy="2748308"/>
          </a:xfrm>
        </p:grpSpPr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08838B95-9EA8-45A0-3C0C-78BF88BC26F6}"/>
                </a:ext>
              </a:extLst>
            </p:cNvPr>
            <p:cNvGrpSpPr/>
            <p:nvPr/>
          </p:nvGrpSpPr>
          <p:grpSpPr>
            <a:xfrm>
              <a:off x="9597198" y="2679446"/>
              <a:ext cx="1749428" cy="1951612"/>
              <a:chOff x="7117506" y="1787469"/>
              <a:chExt cx="1749428" cy="1951612"/>
            </a:xfrm>
          </p:grpSpPr>
          <p:pic>
            <p:nvPicPr>
              <p:cNvPr id="35" name="Imagem 34">
                <a:extLst>
                  <a:ext uri="{FF2B5EF4-FFF2-40B4-BE49-F238E27FC236}">
                    <a16:creationId xmlns:a16="http://schemas.microsoft.com/office/drawing/2014/main" id="{4B10DAEC-C8D0-62F0-A074-C9B25C679D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4775" t="14"/>
              <a:stretch>
                <a:fillRect/>
              </a:stretch>
            </p:blipFill>
            <p:spPr>
              <a:xfrm>
                <a:off x="7117507" y="1787469"/>
                <a:ext cx="1749427" cy="257175"/>
              </a:xfrm>
              <a:prstGeom prst="rect">
                <a:avLst/>
              </a:prstGeom>
            </p:spPr>
          </p:pic>
          <p:pic>
            <p:nvPicPr>
              <p:cNvPr id="36" name="Imagem 35">
                <a:extLst>
                  <a:ext uri="{FF2B5EF4-FFF2-40B4-BE49-F238E27FC236}">
                    <a16:creationId xmlns:a16="http://schemas.microsoft.com/office/drawing/2014/main" id="{BBD8B3F4-2742-AAC2-B866-F1E795A045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17506" y="2044644"/>
                <a:ext cx="1749427" cy="1694437"/>
              </a:xfrm>
              <a:prstGeom prst="rect">
                <a:avLst/>
              </a:prstGeom>
            </p:spPr>
          </p:pic>
        </p:grpSp>
        <p:pic>
          <p:nvPicPr>
            <p:cNvPr id="37" name="Imagem 36">
              <a:extLst>
                <a:ext uri="{FF2B5EF4-FFF2-40B4-BE49-F238E27FC236}">
                  <a16:creationId xmlns:a16="http://schemas.microsoft.com/office/drawing/2014/main" id="{54FAF8A1-809E-055F-5AD1-1131E7765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937145" y="3419436"/>
              <a:ext cx="1795712" cy="2008318"/>
            </a:xfrm>
            <a:prstGeom prst="rect">
              <a:avLst/>
            </a:prstGeom>
          </p:spPr>
        </p:pic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FDE8CAE3-62CE-4361-75A1-D88B710AC330}"/>
                </a:ext>
              </a:extLst>
            </p:cNvPr>
            <p:cNvSpPr txBox="1"/>
            <p:nvPr/>
          </p:nvSpPr>
          <p:spPr>
            <a:xfrm>
              <a:off x="9940705" y="3074956"/>
              <a:ext cx="1106706" cy="369332"/>
            </a:xfrm>
            <a:prstGeom prst="rect">
              <a:avLst/>
            </a:prstGeom>
            <a:solidFill>
              <a:srgbClr val="31313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Salvar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4040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2E4886-4C75-7CA5-F0DE-A7187C0BB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Agradecimento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77521D-885F-4A78-6AAB-B8860B3C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Obrigado pela atenção;</a:t>
            </a:r>
          </a:p>
          <a:p>
            <a:r>
              <a:rPr lang="pt-BR" dirty="0"/>
              <a:t>Contato:</a:t>
            </a:r>
          </a:p>
          <a:p>
            <a:pPr lvl="1"/>
            <a:r>
              <a:rPr lang="pt-BR" dirty="0"/>
              <a:t>ettore.dalben@gmail.com</a:t>
            </a:r>
          </a:p>
        </p:txBody>
      </p:sp>
    </p:spTree>
    <p:extLst>
      <p:ext uri="{BB962C8B-B14F-4D97-AF65-F5344CB8AC3E}">
        <p14:creationId xmlns:p14="http://schemas.microsoft.com/office/powerpoint/2010/main" val="4197494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{6AF2300C-7A72-4DB9-BC32-714B1539DD71}TF6d5feb1e-e145-43f1-b745-cb4b54c5ee974db0861f-e580bbd8a4c7</Template>
  <TotalTime>348</TotalTime>
  <Words>343</Words>
  <Application>Microsoft Office PowerPoint</Application>
  <PresentationFormat>Widescreen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Circuito</vt:lpstr>
      <vt:lpstr>BUSINESS CASE</vt:lpstr>
      <vt:lpstr>PROBLEMA 1 – Processos de Automação para fontes de dados não Editáveis</vt:lpstr>
      <vt:lpstr>Solução</vt:lpstr>
      <vt:lpstr>Diagrama de Regras de Negócio</vt:lpstr>
      <vt:lpstr>Fluxograma</vt:lpstr>
      <vt:lpstr>PROBLEMA 2 – Processos de Tratamento de dados</vt:lpstr>
      <vt:lpstr>Solução</vt:lpstr>
      <vt:lpstr>Diagrama de Regras de Negócio</vt:lpstr>
      <vt:lpstr>Fluxograma</vt:lpstr>
      <vt:lpstr>PROBLEMA 3 – Manipulação de dados</vt:lpstr>
      <vt:lpstr>Solução</vt:lpstr>
      <vt:lpstr>Diagrama de Regras de Negócio</vt:lpstr>
      <vt:lpstr>Fluxograma</vt:lpstr>
      <vt:lpstr>Design geral/FIGMA</vt:lpstr>
      <vt:lpstr>Agradecimento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Ettore Dalben</dc:creator>
  <cp:lastModifiedBy>Ettore Dalben</cp:lastModifiedBy>
  <cp:revision>5</cp:revision>
  <dcterms:created xsi:type="dcterms:W3CDTF">2026-02-09T18:30:24Z</dcterms:created>
  <dcterms:modified xsi:type="dcterms:W3CDTF">2026-02-10T19:37:29Z</dcterms:modified>
</cp:coreProperties>
</file>